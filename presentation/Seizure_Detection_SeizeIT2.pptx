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25" autoAdjust="0"/>
    <p:restoredTop sz="82222" autoAdjust="0"/>
  </p:normalViewPr>
  <p:slideViewPr>
    <p:cSldViewPr snapToGrid="0" snapToObjects="1">
      <p:cViewPr varScale="1">
        <p:scale>
          <a:sx n="68" d="100"/>
          <a:sy n="68" d="100"/>
        </p:scale>
        <p:origin x="1714" y="53"/>
      </p:cViewPr>
      <p:guideLst/>
    </p:cSldViewPr>
  </p:slideViewPr>
  <p:outlineViewPr>
    <p:cViewPr>
      <p:scale>
        <a:sx n="33" d="100"/>
        <a:sy n="33" d="100"/>
      </p:scale>
      <p:origin x="0" y="-4028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171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the final model gets more data (also the validation patients); the threshold comes from the 80% model, but validation 58.6% / 0.94 FA/h vs test 55.9% / 0.93 FA/h shows it transfers well.</a:t>
            </a:r>
          </a:p>
          <a:p>
            <a:r>
              <a:rPr lang="en-US" dirty="0"/>
              <a:t>
 split by patient because the device must work on new people · nested, so the test patients never influence any choice · AUPR, not AUROC, because with 1 : 798 imbalance AUROC looks good too easily · </a:t>
            </a:r>
            <a:r>
              <a:rPr lang="en-US" dirty="0" err="1"/>
              <a:t>Optuna</a:t>
            </a:r>
            <a:r>
              <a:rPr lang="en-US" dirty="0"/>
              <a:t> (Bayesian search) instead of grid search: finds good settings in 15 trials · threshold for 1 FA/h instead of 0.5, because the clinical limit is false alarms · </a:t>
            </a:r>
            <a:r>
              <a:rPr lang="en-US" dirty="0" err="1"/>
              <a:t>undersampling</a:t>
            </a:r>
            <a:r>
              <a:rPr lang="en-US" dirty="0"/>
              <a:t> 5 : 1 only on training patients: faster training, test stays realistic.
10 folds by patient: random shuffle with seed 42, split into 5 folds of 13 and 5 of 12 · ~112 train / 12–13 test patients · inner split 80 / 20 by patient (≈ 90 fit / ≈ 22 validation, a different random 20% in every fold) · </a:t>
            </a:r>
            <a:r>
              <a:rPr lang="en-US" dirty="0" err="1"/>
              <a:t>Optuna</a:t>
            </a:r>
            <a:r>
              <a:rPr lang="en-US" dirty="0"/>
              <a:t> validation = all seizure windows + 300,000 random background windows, re-weighted · a window is ictal if ≥ 1 s of it is inside a seizure · threshold grid 0.05–0.95, step 0.025 · </a:t>
            </a:r>
            <a:r>
              <a:rPr lang="en-US" dirty="0" err="1"/>
              <a:t>Optuna</a:t>
            </a:r>
            <a:r>
              <a:rPr lang="en-US" dirty="0"/>
              <a:t> 15 trials, </a:t>
            </a:r>
            <a:r>
              <a:rPr lang="en-US" dirty="0" err="1"/>
              <a:t>maximises</a:t>
            </a:r>
            <a:r>
              <a:rPr lang="en-US" dirty="0"/>
              <a:t> AUPR · threshold for ≤ 1 FA/h (median 0.525) · </a:t>
            </a:r>
            <a:r>
              <a:rPr lang="en-US" dirty="0" err="1"/>
              <a:t>undersampling</a:t>
            </a:r>
            <a:r>
              <a:rPr lang="en-US" dirty="0"/>
              <a:t> 5 : 1 on training patients only · </a:t>
            </a:r>
            <a:r>
              <a:rPr lang="en-US" dirty="0" err="1"/>
              <a:t>SzCORE</a:t>
            </a:r>
            <a:r>
              <a:rPr lang="en-US" dirty="0"/>
              <a:t>: 30 s before, 60 s after, merge 90 s · </a:t>
            </a:r>
            <a:r>
              <a:rPr lang="en-US" dirty="0" err="1"/>
              <a:t>timescoring</a:t>
            </a:r>
            <a:r>
              <a:rPr lang="en-US" dirty="0"/>
              <a:t>: 873 events, 497 detected, same 10,790 false alarms.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178561"/>
            <a:ext cx="105664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000" dirty="0">
                <a:solidFill>
                  <a:srgbClr val="14213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0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921511"/>
            <a:ext cx="10566400" cy="41236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178561"/>
            <a:ext cx="105664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000" dirty="0">
                <a:solidFill>
                  <a:srgbClr val="14213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0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921511"/>
            <a:ext cx="10566400" cy="41236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71" r="-71"/>
          <a:stretch/>
        </p:blipFill>
        <p:spPr>
          <a:xfrm>
            <a:off x="0" y="5207000"/>
            <a:ext cx="12192000" cy="139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794" y="1109592"/>
            <a:ext cx="1255776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200" dirty="0">
                <a:solidFill>
                  <a:srgbClr val="E9A6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SCIENTIFIC PROGRAMMING PROJECT</a:t>
            </a:r>
            <a:endParaRPr lang="en-US" sz="1300" dirty="0"/>
          </a:p>
        </p:txBody>
      </p:sp>
      <p:sp>
        <p:nvSpPr>
          <p:cNvPr id="4" name="Text 1"/>
          <p:cNvSpPr>
            <a:spLocks noGrp="1"/>
          </p:cNvSpPr>
          <p:nvPr>
            <p:ph type="title"/>
          </p:nvPr>
        </p:nvSpPr>
        <p:spPr>
          <a:xfrm>
            <a:off x="640794" y="1999420"/>
            <a:ext cx="9810750" cy="12871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968"/>
              </a:lnSpc>
              <a:buNone/>
            </a:pPr>
            <a:r>
              <a:rPr lang="en-US" sz="4600" b="1" i="0" dirty="0">
                <a:solidFill>
                  <a:srgbClr val="F7F6F2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Automated seizure detection from behind-the-ear EEG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640794" y="3568698"/>
            <a:ext cx="9156700" cy="3511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65"/>
              </a:lnSpc>
              <a:buNone/>
            </a:pPr>
            <a:r>
              <a:rPr lang="en-US" sz="1900" dirty="0">
                <a:solidFill>
                  <a:srgbClr val="C9D3E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XGBoost with nested patient-wise cross-validation on the SeizeIT2 dataset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640794" y="4417376"/>
            <a:ext cx="1281589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l-GR" sz="1500" b="1" dirty="0">
                <a:solidFill>
                  <a:srgbClr val="F7F6F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</a:t>
            </a:r>
            <a:r>
              <a:rPr lang="en-US" sz="1500" b="1" dirty="0">
                <a:solidFill>
                  <a:srgbClr val="F7F6F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Ioannis Vakkas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372791" y="4585970"/>
            <a:ext cx="865537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2333557" y="4417376"/>
            <a:ext cx="142875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C9D3E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October 2026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B447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78560"/>
            <a:ext cx="10883392" cy="901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i="0" dirty="0">
                <a:solidFill>
                  <a:srgbClr val="14213D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Detect seizures at home without waking everyone up for nothing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2882952"/>
            <a:ext cx="5284724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65"/>
              </a:lnSpc>
              <a:buNone/>
            </a:pPr>
            <a:r>
              <a:rPr lang="en-US" sz="17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wearable device with </a:t>
            </a:r>
            <a:r>
              <a:rPr lang="en-US" sz="17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two EEG electrodes behind the ears</a:t>
            </a:r>
            <a:r>
              <a:rPr lang="en-US" sz="17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could record patients at home for weeks.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11276" y="3912638"/>
            <a:ext cx="5284724" cy="9645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65"/>
              </a:lnSpc>
              <a:buNone/>
            </a:pPr>
            <a:r>
              <a:rPr lang="en-US" sz="17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alarm wakes the patient or a carer, so the detector must find seizures </a:t>
            </a:r>
            <a:r>
              <a:rPr lang="en-US" sz="17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and</a:t>
            </a:r>
            <a:r>
              <a:rPr lang="en-US" sz="17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keep false alarms low.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251575" y="2312035"/>
            <a:ext cx="5124450" cy="1355090"/>
          </a:xfrm>
          <a:prstGeom prst="roundRect">
            <a:avLst>
              <a:gd name="adj" fmla="val 7263"/>
            </a:avLst>
          </a:prstGeom>
          <a:solidFill>
            <a:srgbClr val="FFFFFF"/>
          </a:solidFill>
          <a:ln w="6350">
            <a:solidFill>
              <a:srgbClr val="E4E1D8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8" name="Text 6"/>
          <p:cNvSpPr/>
          <p:nvPr/>
        </p:nvSpPr>
        <p:spPr>
          <a:xfrm>
            <a:off x="6482080" y="2542540"/>
            <a:ext cx="480334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B447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RQ1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82080" y="2832100"/>
            <a:ext cx="4803343" cy="62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Does detection performance depend on the </a:t>
            </a:r>
            <a:r>
              <a:rPr lang="en-US" sz="17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seizure type</a:t>
            </a:r>
            <a:r>
              <a:rPr lang="en-US" sz="17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?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251575" y="3851275"/>
            <a:ext cx="5124450" cy="1355090"/>
          </a:xfrm>
          <a:prstGeom prst="roundRect">
            <a:avLst>
              <a:gd name="adj" fmla="val 7263"/>
            </a:avLst>
          </a:prstGeom>
          <a:solidFill>
            <a:srgbClr val="FFFFFF"/>
          </a:solidFill>
          <a:ln w="6350">
            <a:solidFill>
              <a:srgbClr val="E4E1D8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11" name="Text 9"/>
          <p:cNvSpPr/>
          <p:nvPr/>
        </p:nvSpPr>
        <p:spPr>
          <a:xfrm>
            <a:off x="6482080" y="4081780"/>
            <a:ext cx="480334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B447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RQ2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82080" y="4371340"/>
            <a:ext cx="4803343" cy="62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Does detection performance depend on the </a:t>
            </a:r>
            <a:r>
              <a:rPr lang="en-US" sz="17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seizure duration</a:t>
            </a:r>
            <a:r>
              <a:rPr lang="en-US" sz="17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?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B447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78561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i="0" dirty="0">
                <a:solidFill>
                  <a:srgbClr val="14213D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SeizeIT2: a large, public, very imbalanced dataset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5975" y="1873886"/>
            <a:ext cx="2520950" cy="1019810"/>
          </a:xfrm>
          <a:prstGeom prst="roundRect">
            <a:avLst>
              <a:gd name="adj" fmla="val 9651"/>
            </a:avLst>
          </a:prstGeom>
          <a:solidFill>
            <a:srgbClr val="FFFFFF"/>
          </a:solidFill>
          <a:ln w="6350">
            <a:solidFill>
              <a:srgbClr val="E4E1D8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5" name="Text 3"/>
          <p:cNvSpPr/>
          <p:nvPr/>
        </p:nvSpPr>
        <p:spPr>
          <a:xfrm>
            <a:off x="995680" y="2028191"/>
            <a:ext cx="2226386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2F5D8C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125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95680" y="2526030"/>
            <a:ext cx="222638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patients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95675" y="1873886"/>
            <a:ext cx="2520950" cy="1019810"/>
          </a:xfrm>
          <a:prstGeom prst="roundRect">
            <a:avLst>
              <a:gd name="adj" fmla="val 9651"/>
            </a:avLst>
          </a:prstGeom>
          <a:solidFill>
            <a:srgbClr val="FFFFFF"/>
          </a:solidFill>
          <a:ln w="6350">
            <a:solidFill>
              <a:srgbClr val="E4E1D8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8" name="Text 6"/>
          <p:cNvSpPr/>
          <p:nvPr/>
        </p:nvSpPr>
        <p:spPr>
          <a:xfrm>
            <a:off x="3675380" y="2028191"/>
            <a:ext cx="2226386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2F5D8C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11,626 h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75380" y="2526030"/>
            <a:ext cx="222638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of recordings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75375" y="1873886"/>
            <a:ext cx="2520950" cy="1019810"/>
          </a:xfrm>
          <a:prstGeom prst="roundRect">
            <a:avLst>
              <a:gd name="adj" fmla="val 9651"/>
            </a:avLst>
          </a:prstGeom>
          <a:solidFill>
            <a:srgbClr val="FFFFFF"/>
          </a:solidFill>
          <a:ln w="6350">
            <a:solidFill>
              <a:srgbClr val="E4E1D8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11" name="Text 9"/>
          <p:cNvSpPr/>
          <p:nvPr/>
        </p:nvSpPr>
        <p:spPr>
          <a:xfrm>
            <a:off x="6355080" y="2028191"/>
            <a:ext cx="2226386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2F5D8C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883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355080" y="2526030"/>
            <a:ext cx="222638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annotated seizures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855075" y="1873886"/>
            <a:ext cx="2520950" cy="1019810"/>
          </a:xfrm>
          <a:prstGeom prst="roundRect">
            <a:avLst>
              <a:gd name="adj" fmla="val 9651"/>
            </a:avLst>
          </a:prstGeom>
          <a:solidFill>
            <a:srgbClr val="FFFFFF"/>
          </a:solidFill>
          <a:ln w="6350">
            <a:solidFill>
              <a:srgbClr val="E4E1D8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14" name="Text 12"/>
          <p:cNvSpPr/>
          <p:nvPr/>
        </p:nvSpPr>
        <p:spPr>
          <a:xfrm>
            <a:off x="9034780" y="2028191"/>
            <a:ext cx="2226386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B4472F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1 : 798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034780" y="2526030"/>
            <a:ext cx="222638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ictal : interictal windows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5975" y="3048001"/>
            <a:ext cx="10560050" cy="3418878"/>
          </a:xfrm>
          <a:prstGeom prst="roundRect">
            <a:avLst>
              <a:gd name="adj" fmla="val 3408"/>
            </a:avLst>
          </a:prstGeom>
          <a:solidFill>
            <a:srgbClr val="FFFFFF"/>
          </a:solidFill>
          <a:ln w="6350">
            <a:solidFill>
              <a:srgbClr val="E4E1D8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pic>
        <p:nvPicPr>
          <p:cNvPr id="21" name="Εικόνα 20">
            <a:extLst>
              <a:ext uri="{FF2B5EF4-FFF2-40B4-BE49-F238E27FC236}">
                <a16:creationId xmlns:a16="http://schemas.microsoft.com/office/drawing/2014/main" id="{B300651C-2EC5-6022-1086-210FADC148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885" y="3125471"/>
            <a:ext cx="10218626" cy="321078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B447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METHOD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78561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3450"/>
              </a:lnSpc>
            </a:pPr>
            <a:r>
              <a:rPr lang="en-US" b="1" dirty="0"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From raw signal to alarm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654810"/>
            <a:ext cx="10563225" cy="2752726"/>
          </a:xfrm>
          <a:prstGeom prst="roundRect">
            <a:avLst>
              <a:gd name="adj" fmla="val 3885"/>
            </a:avLst>
          </a:prstGeom>
          <a:solidFill>
            <a:srgbClr val="FFFFFF"/>
          </a:solidFill>
          <a:ln w="6350">
            <a:solidFill>
              <a:srgbClr val="E4E1D8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pic>
        <p:nvPicPr>
          <p:cNvPr id="5" name="Image 0" descr="Processing pipelin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21976" y="1680212"/>
            <a:ext cx="9907793" cy="261493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12800" y="4677411"/>
            <a:ext cx="3386614" cy="0"/>
          </a:xfrm>
          <a:prstGeom prst="line">
            <a:avLst/>
          </a:prstGeom>
          <a:noFill/>
          <a:ln w="25400">
            <a:solidFill>
              <a:srgbClr val="2F5D8C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7" name="Text 4"/>
          <p:cNvSpPr/>
          <p:nvPr/>
        </p:nvSpPr>
        <p:spPr>
          <a:xfrm>
            <a:off x="812800" y="4804411"/>
            <a:ext cx="34882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Signal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12800" y="5091430"/>
            <a:ext cx="348821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µV, band-pass 1–25 Hz, 2 s windows (1 s step)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12800" y="5377180"/>
            <a:ext cx="3488212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B447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Why:</a:t>
            </a:r>
            <a:r>
              <a:rPr lang="en-US" sz="1150" dirty="0">
                <a:solidFill>
                  <a:srgbClr val="B447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seizure rhythms lie below 25 Hz; 2 s still catches short seizures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402614" y="4677411"/>
            <a:ext cx="3386693" cy="0"/>
          </a:xfrm>
          <a:prstGeom prst="line">
            <a:avLst/>
          </a:prstGeom>
          <a:noFill/>
          <a:ln w="25400">
            <a:solidFill>
              <a:srgbClr val="2F5D8C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11" name="Text 8"/>
          <p:cNvSpPr/>
          <p:nvPr/>
        </p:nvSpPr>
        <p:spPr>
          <a:xfrm>
            <a:off x="4402614" y="4804411"/>
            <a:ext cx="34882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Features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402614" y="5091430"/>
            <a:ext cx="3488294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42 per window + 42 “change vs. previous 60 s” = 84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402614" y="5599432"/>
            <a:ext cx="3488294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B447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Why:</a:t>
            </a:r>
            <a:r>
              <a:rPr lang="en-US" sz="1150" dirty="0">
                <a:solidFill>
                  <a:srgbClr val="B447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 seizure is a change from the patient’s own background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7992507" y="4677411"/>
            <a:ext cx="3386693" cy="0"/>
          </a:xfrm>
          <a:prstGeom prst="line">
            <a:avLst/>
          </a:prstGeom>
          <a:noFill/>
          <a:ln w="25400">
            <a:solidFill>
              <a:srgbClr val="2F5D8C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15" name="Text 12"/>
          <p:cNvSpPr/>
          <p:nvPr/>
        </p:nvSpPr>
        <p:spPr>
          <a:xfrm>
            <a:off x="7992507" y="4804411"/>
            <a:ext cx="34882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Model + alarm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992507" y="5091430"/>
            <a:ext cx="3488294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XGBoost per window; alarm if ≥ 8 of 10 are positive (as in SeizeIT2)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7992507" y="5599432"/>
            <a:ext cx="3488294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B447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Why:</a:t>
            </a:r>
            <a:r>
              <a:rPr lang="en-US" sz="1150" dirty="0">
                <a:solidFill>
                  <a:srgbClr val="B447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fast on millions of windows; 8/10 removes one-window false alarms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B447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EVALUATION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78561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3450"/>
              </a:lnSpc>
            </a:pPr>
            <a:r>
              <a:rPr lang="en-US" b="1" dirty="0"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Nested patient-wise cross-validation, no leakage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807056"/>
            <a:ext cx="5508982" cy="470885"/>
          </a:xfrm>
          <a:prstGeom prst="roundRect">
            <a:avLst>
              <a:gd name="adj" fmla="val 16575"/>
            </a:avLst>
          </a:prstGeom>
          <a:solidFill>
            <a:srgbClr val="14213D"/>
          </a:solidFill>
          <a:ln/>
        </p:spPr>
        <p:txBody>
          <a:bodyPr wrap="square" lIns="130082" tIns="91982" rIns="0" bIns="66582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7F6F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125 patients → 10 folds, split by patient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19150" y="2425699"/>
            <a:ext cx="3402251" cy="2612831"/>
          </a:xfrm>
          <a:prstGeom prst="roundRect">
            <a:avLst>
              <a:gd name="adj" fmla="val 3230"/>
            </a:avLst>
          </a:prstGeom>
          <a:solidFill>
            <a:srgbClr val="FFFFFF"/>
          </a:solidFill>
          <a:ln w="12700">
            <a:solidFill>
              <a:srgbClr val="2F5D8C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6" name="Text 4"/>
          <p:cNvSpPr/>
          <p:nvPr/>
        </p:nvSpPr>
        <p:spPr>
          <a:xfrm>
            <a:off x="949960" y="2531111"/>
            <a:ext cx="32348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F5D8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Training patients (~112)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49960" y="2820671"/>
            <a:ext cx="2205990" cy="500380"/>
          </a:xfrm>
          <a:prstGeom prst="roundRect">
            <a:avLst>
              <a:gd name="adj" fmla="val 10152"/>
            </a:avLst>
          </a:prstGeom>
          <a:solidFill>
            <a:srgbClr val="E3EBF4"/>
          </a:solidFill>
          <a:ln/>
        </p:spPr>
        <p:txBody>
          <a:bodyPr wrap="square" lIns="61321" tIns="48621" rIns="0" bIns="48621" rtlCol="0" anchor="t">
            <a:normAutofit/>
          </a:bodyPr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80% fit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219450" y="2820671"/>
            <a:ext cx="871141" cy="500380"/>
          </a:xfrm>
          <a:prstGeom prst="roundRect">
            <a:avLst>
              <a:gd name="adj" fmla="val 10152"/>
            </a:avLst>
          </a:prstGeom>
          <a:solidFill>
            <a:srgbClr val="E3EBF4"/>
          </a:solidFill>
          <a:ln/>
        </p:spPr>
        <p:txBody>
          <a:bodyPr wrap="square" lIns="61321" tIns="48621" rIns="10521" bIns="23221" rtlCol="0" anchor="t">
            <a:normAutofit/>
          </a:bodyPr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20% validation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49960" y="3397250"/>
            <a:ext cx="3234850" cy="39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① Fit on 80% → Optuna (15 trials) scores AUPR on the 20%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49960" y="3846832"/>
            <a:ext cx="3234850" cy="212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② Threshold for ≤ 1 FA/h chosen on the 20%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49960" y="4109721"/>
            <a:ext cx="3234850" cy="39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③ Final model retrained on </a:t>
            </a:r>
            <a:r>
              <a:rPr lang="en-US" sz="1050" b="1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all</a:t>
            </a:r>
            <a:r>
              <a:rPr lang="en-US" sz="105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training patients (5 : 1 undersampling)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323001" y="2425700"/>
            <a:ext cx="1998781" cy="2612830"/>
          </a:xfrm>
          <a:prstGeom prst="roundRect">
            <a:avLst>
              <a:gd name="adj" fmla="val 3813"/>
            </a:avLst>
          </a:prstGeom>
          <a:solidFill>
            <a:srgbClr val="FBEDE8"/>
          </a:solidFill>
          <a:ln w="12700">
            <a:solidFill>
              <a:srgbClr val="B4472F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13" name="Text 11"/>
          <p:cNvSpPr/>
          <p:nvPr/>
        </p:nvSpPr>
        <p:spPr>
          <a:xfrm>
            <a:off x="4453811" y="2531111"/>
            <a:ext cx="162115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447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Test patients (12–13)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453811" y="2807971"/>
            <a:ext cx="1621155" cy="39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Never seen. Evaluated </a:t>
            </a:r>
            <a:r>
              <a:rPr lang="en-US" sz="1050" b="1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once</a:t>
            </a:r>
            <a:r>
              <a:rPr lang="en-US" sz="105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12800" y="5105399"/>
            <a:ext cx="5508982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Repeated for all 10 folds → every patient is tested exactly once.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516925" y="2432462"/>
            <a:ext cx="50081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Split by patient</a:t>
            </a:r>
            <a:r>
              <a:rPr lang="en-US" sz="14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not by window.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16925" y="2859317"/>
            <a:ext cx="5008143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Everything that learns</a:t>
            </a:r>
            <a:r>
              <a:rPr lang="en-US" sz="14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(hyperparameters, threshold, undersampling) uses training patients only.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16925" y="3548485"/>
            <a:ext cx="50081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Before the split:</a:t>
            </a:r>
            <a:r>
              <a:rPr lang="en-US" sz="14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only per-recording, label-free steps.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16924" y="4047491"/>
            <a:ext cx="5008143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Scoring:</a:t>
            </a:r>
            <a:r>
              <a:rPr lang="en-US" sz="14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SzCORE event rules, cross-checked with the official </a:t>
            </a:r>
            <a:r>
              <a:rPr lang="en-US" sz="1400" i="1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timescoring</a:t>
            </a:r>
            <a:r>
              <a:rPr lang="en-US" sz="14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library.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B447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78561"/>
            <a:ext cx="11379200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i="0" dirty="0">
                <a:solidFill>
                  <a:srgbClr val="14213D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494 of 883 seizures detected at 0.93 false alarms per hour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7689" y="1873886"/>
            <a:ext cx="6007082" cy="4684958"/>
          </a:xfrm>
          <a:prstGeom prst="roundRect">
            <a:avLst>
              <a:gd name="adj" fmla="val 2361"/>
            </a:avLst>
          </a:prstGeom>
          <a:solidFill>
            <a:srgbClr val="FFFFFF"/>
          </a:solidFill>
          <a:ln w="6350">
            <a:solidFill>
              <a:srgbClr val="E4E1D8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pic>
        <p:nvPicPr>
          <p:cNvPr id="5" name="Image 0" descr="Sensitivity versus false alarms per hour"/>
          <p:cNvPicPr>
            <a:picLocks noChangeAspect="1"/>
          </p:cNvPicPr>
          <p:nvPr/>
        </p:nvPicPr>
        <p:blipFill>
          <a:blip r:embed="rId3"/>
          <a:srcRect l="-1" r="-1"/>
          <a:stretch/>
        </p:blipFill>
        <p:spPr>
          <a:xfrm>
            <a:off x="522519" y="1964355"/>
            <a:ext cx="5742814" cy="4644489"/>
          </a:xfrm>
          <a:prstGeom prst="rect">
            <a:avLst/>
          </a:prstGeom>
        </p:spPr>
      </p:pic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92106" y="1880871"/>
          <a:ext cx="4687095" cy="1841500"/>
        </p:xfrm>
        <a:graphic>
          <a:graphicData uri="http://schemas.openxmlformats.org/drawingml/2006/table">
            <a:tbl>
              <a:tblPr/>
              <a:tblGrid>
                <a:gridCol w="15623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23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623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830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Operating point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0800" marR="50800" marT="63500" marB="63500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6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6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4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Sensitivity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0800" marR="50800" marT="63500" marB="63500">
                    <a:lnL w="12700" cap="flat" cmpd="sng" algn="ctr">
                      <a:solidFill>
                        <a:srgbClr val="B7B6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6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6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4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FA/h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0800" marR="50800" marT="63500" marB="63500">
                    <a:lnL w="12700" cap="flat" cmpd="sng" algn="ctr">
                      <a:solidFill>
                        <a:srgbClr val="B7B6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6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6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4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475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Threshold 0.5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0800" marR="50800" marT="63500" marB="63500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6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475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57.6%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0800" marR="50800" marT="63500" marB="63500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6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475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0.99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0800" marR="50800" marT="63500" marB="63500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6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≤ 1 FA/h (main)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0800" marR="50800" marT="63500" marB="63500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B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F5D8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55.9%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0800" marR="50800" marT="63500" marB="63500">
                    <a:lnL w="12700" cap="flat" cmpd="sng" algn="ctr">
                      <a:solidFill>
                        <a:srgbClr val="B5B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B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F5D8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0.93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0800" marR="50800" marT="63500" marB="63500">
                    <a:lnL w="12700" cap="flat" cmpd="sng" algn="ctr">
                      <a:solidFill>
                        <a:srgbClr val="B5B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B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475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≤ 2 FA/h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0800" marR="50800" marT="63500" marB="63500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475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69.4%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0800" marR="50800" marT="63500" marB="63500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475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1.94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0800" marR="50800" marT="63500" marB="63500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475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≤ 3 FA/h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0800" marR="50800" marT="63500" marB="63500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475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77.6%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0800" marR="50800" marT="63500" marB="63500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475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2.91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0800" marR="50800" marT="63500" marB="63500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6681946" y="3967055"/>
            <a:ext cx="4838172" cy="688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Window specificity 99.5% and accuracy 99.4% look high, but a model that never alarms gets 99.9% accuracy, so we report sensitivity and FA/h instead.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B447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HOW WE GOT THERE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78561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3450"/>
              </a:lnSpc>
            </a:pPr>
            <a:r>
              <a:rPr lang="en-US" b="1" dirty="0"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The biggest  gain came from fixing the artifact rule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5975" y="1873886"/>
            <a:ext cx="5474494" cy="577850"/>
          </a:xfrm>
          <a:prstGeom prst="roundRect">
            <a:avLst>
              <a:gd name="adj" fmla="val 12637"/>
            </a:avLst>
          </a:prstGeom>
          <a:solidFill>
            <a:srgbClr val="FFFFFF"/>
          </a:solidFill>
          <a:ln w="6350">
            <a:solidFill>
              <a:srgbClr val="E4E1D8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5" name="Text 3"/>
          <p:cNvSpPr/>
          <p:nvPr/>
        </p:nvSpPr>
        <p:spPr>
          <a:xfrm>
            <a:off x="995680" y="2047239"/>
            <a:ext cx="177441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Artifact rule ≥ 13 µV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271611" y="2002789"/>
            <a:ext cx="839153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42.0%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15975" y="2585086"/>
            <a:ext cx="5474494" cy="577850"/>
          </a:xfrm>
          <a:prstGeom prst="roundRect">
            <a:avLst>
              <a:gd name="adj" fmla="val 12637"/>
            </a:avLst>
          </a:prstGeom>
          <a:solidFill>
            <a:srgbClr val="FFFFFF"/>
          </a:solidFill>
          <a:ln w="6350">
            <a:solidFill>
              <a:srgbClr val="E4E1D8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8" name="Text 6"/>
          <p:cNvSpPr/>
          <p:nvPr/>
        </p:nvSpPr>
        <p:spPr>
          <a:xfrm>
            <a:off x="995680" y="2758439"/>
            <a:ext cx="2464975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Rule ≥ 2 µV + 8-of-10 alarm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271611" y="2713989"/>
            <a:ext cx="839153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2F5D8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52.3%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19150" y="3299461"/>
            <a:ext cx="5468144" cy="581660"/>
          </a:xfrm>
          <a:prstGeom prst="roundRect">
            <a:avLst>
              <a:gd name="adj" fmla="val 12009"/>
            </a:avLst>
          </a:prstGeom>
          <a:solidFill>
            <a:srgbClr val="E3EBF4"/>
          </a:solidFill>
          <a:ln w="12700">
            <a:solidFill>
              <a:srgbClr val="2F5D8C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11" name="Text 9"/>
          <p:cNvSpPr/>
          <p:nvPr/>
        </p:nvSpPr>
        <p:spPr>
          <a:xfrm>
            <a:off x="1000760" y="3474721"/>
            <a:ext cx="2689098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+ 60 s context features (final)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266531" y="3430271"/>
            <a:ext cx="839153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2F5D8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55.9%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12800" y="4014471"/>
            <a:ext cx="564526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All at ≈ 0.9 FA/h, same evaluation.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12800" y="4354832"/>
            <a:ext cx="5645269" cy="5041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13 µV lower limit removed </a:t>
            </a:r>
            <a:r>
              <a:rPr lang="en-US" sz="1300" b="1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88%</a:t>
            </a:r>
            <a:r>
              <a:rPr lang="en-US" sz="13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of interictal and </a:t>
            </a:r>
            <a:r>
              <a:rPr lang="en-US" sz="1300" b="1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55%</a:t>
            </a:r>
            <a:r>
              <a:rPr lang="en-US" sz="13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of ictal windows; typical bte-EEG RMS is only ≈ 10 µV.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12800" y="4960621"/>
            <a:ext cx="5645269" cy="264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Context features gave a </a:t>
            </a:r>
            <a:r>
              <a:rPr lang="en-US" sz="1300" b="1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small</a:t>
            </a:r>
            <a:r>
              <a:rPr lang="en-US" sz="13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extra improvement.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601619" y="1873886"/>
            <a:ext cx="4774406" cy="4168140"/>
          </a:xfrm>
          <a:prstGeom prst="roundRect">
            <a:avLst>
              <a:gd name="adj" fmla="val 2361"/>
            </a:avLst>
          </a:prstGeom>
          <a:solidFill>
            <a:srgbClr val="FFFFFF"/>
          </a:solidFill>
          <a:ln w="6350">
            <a:solidFill>
              <a:srgbClr val="E4E1D8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pic>
        <p:nvPicPr>
          <p:cNvPr id="17" name="Image 0" descr="Distribution of window RMS amplitud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401322" y="2560957"/>
            <a:ext cx="3175000" cy="2794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B447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RQ1 · SEIZURE TYPE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78561"/>
            <a:ext cx="10883392" cy="901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i="0" dirty="0">
                <a:solidFill>
                  <a:srgbClr val="14213D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Focal-to-bilateral tonic-clonic seizures are almost always detected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5975" y="2312036"/>
            <a:ext cx="10560050" cy="287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6350">
            <a:solidFill>
              <a:srgbClr val="E4E1D8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pic>
        <p:nvPicPr>
          <p:cNvPr id="5" name="Image 0" descr="Sensitivity per seizure type with 95% confidence intervals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596445" y="2335722"/>
            <a:ext cx="6676319" cy="274663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12800" y="5452114"/>
            <a:ext cx="2419033" cy="0"/>
          </a:xfrm>
          <a:prstGeom prst="line">
            <a:avLst/>
          </a:prstGeom>
          <a:noFill/>
          <a:ln w="25400">
            <a:solidFill>
              <a:srgbClr val="2F5D8C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7" name="Text 4"/>
          <p:cNvSpPr/>
          <p:nvPr/>
        </p:nvSpPr>
        <p:spPr>
          <a:xfrm>
            <a:off x="812800" y="5566414"/>
            <a:ext cx="2491604" cy="264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FBTC: 98%</a:t>
            </a:r>
            <a:r>
              <a:rPr lang="en-US" sz="13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(n = 55)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435033" y="5452114"/>
            <a:ext cx="3870484" cy="0"/>
          </a:xfrm>
          <a:prstGeom prst="line">
            <a:avLst/>
          </a:prstGeom>
          <a:noFill/>
          <a:ln w="25400">
            <a:solidFill>
              <a:srgbClr val="2F5D8C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9" name="Text 6"/>
          <p:cNvSpPr/>
          <p:nvPr/>
        </p:nvSpPr>
        <p:spPr>
          <a:xfrm>
            <a:off x="3435033" y="5566414"/>
            <a:ext cx="3986598" cy="5041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Focal types: FIA 61%, FA 47%, UA 44%; </a:t>
            </a:r>
            <a:r>
              <a:rPr lang="en-US" sz="13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intervals overlap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508716" y="5452114"/>
            <a:ext cx="3870484" cy="0"/>
          </a:xfrm>
          <a:prstGeom prst="line">
            <a:avLst/>
          </a:prstGeom>
          <a:noFill/>
          <a:ln w="25400">
            <a:solidFill>
              <a:srgbClr val="B4472F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11" name="Text 8"/>
          <p:cNvSpPr/>
          <p:nvPr/>
        </p:nvSpPr>
        <p:spPr>
          <a:xfrm>
            <a:off x="7508716" y="5566414"/>
            <a:ext cx="3986598" cy="5041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FBTC are also the longest (median 108 s vs ≈ 32 s), so </a:t>
            </a:r>
            <a:r>
              <a:rPr lang="en-US" sz="13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type and duration are linked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B447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RQ2 · SEIZURE DURATION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78564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i="0" dirty="0">
                <a:solidFill>
                  <a:srgbClr val="14213D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Longer seizures are detected much more often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5975" y="1873889"/>
            <a:ext cx="4181634" cy="3308350"/>
          </a:xfrm>
          <a:prstGeom prst="roundRect">
            <a:avLst>
              <a:gd name="adj" fmla="val 2975"/>
            </a:avLst>
          </a:prstGeom>
          <a:solidFill>
            <a:srgbClr val="FFFFFF"/>
          </a:solidFill>
          <a:ln w="6350">
            <a:solidFill>
              <a:srgbClr val="E4E1D8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pic>
        <p:nvPicPr>
          <p:cNvPr id="5" name="Image 0" descr="Sensitivity per seizure duration group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427242" y="2267589"/>
            <a:ext cx="2959100" cy="25209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207159" y="1873889"/>
            <a:ext cx="6168866" cy="3308350"/>
          </a:xfrm>
          <a:prstGeom prst="roundRect">
            <a:avLst>
              <a:gd name="adj" fmla="val 2975"/>
            </a:avLst>
          </a:prstGeom>
          <a:solidFill>
            <a:srgbClr val="FFFFFF"/>
          </a:solidFill>
          <a:ln w="6350">
            <a:solidFill>
              <a:srgbClr val="E4E1D8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pic>
        <p:nvPicPr>
          <p:cNvPr id="7" name="Image 1" descr="Detection latency distribution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254496" y="1953877"/>
            <a:ext cx="4160119" cy="318647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812800" y="5452114"/>
            <a:ext cx="3386614" cy="0"/>
          </a:xfrm>
          <a:prstGeom prst="line">
            <a:avLst/>
          </a:prstGeom>
          <a:noFill/>
          <a:ln w="25400">
            <a:solidFill>
              <a:srgbClr val="2F5D8C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9" name="Text 5"/>
          <p:cNvSpPr/>
          <p:nvPr/>
        </p:nvSpPr>
        <p:spPr>
          <a:xfrm>
            <a:off x="812800" y="5566414"/>
            <a:ext cx="3488212" cy="5041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≤ 30 s: </a:t>
            </a:r>
            <a:r>
              <a:rPr lang="en-US" sz="13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32%</a:t>
            </a:r>
            <a:r>
              <a:rPr lang="en-US" sz="13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→ over 60 s: </a:t>
            </a:r>
            <a:r>
              <a:rPr lang="en-US" sz="13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84%</a:t>
            </a:r>
            <a:r>
              <a:rPr lang="en-US" sz="13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; intervals do not overlap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4402614" y="5452114"/>
            <a:ext cx="3386693" cy="0"/>
          </a:xfrm>
          <a:prstGeom prst="line">
            <a:avLst/>
          </a:prstGeom>
          <a:noFill/>
          <a:ln w="25400">
            <a:solidFill>
              <a:srgbClr val="2F5D8C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11" name="Text 7"/>
          <p:cNvSpPr/>
          <p:nvPr/>
        </p:nvSpPr>
        <p:spPr>
          <a:xfrm>
            <a:off x="4402614" y="5566414"/>
            <a:ext cx="3488294" cy="264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Median duration: missed </a:t>
            </a:r>
            <a:r>
              <a:rPr lang="en-US" sz="13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14 s</a:t>
            </a:r>
            <a:r>
              <a:rPr lang="en-US" sz="13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detected </a:t>
            </a:r>
            <a:r>
              <a:rPr lang="en-US" sz="13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66 s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7992507" y="5452114"/>
            <a:ext cx="3386693" cy="0"/>
          </a:xfrm>
          <a:prstGeom prst="line">
            <a:avLst/>
          </a:prstGeom>
          <a:noFill/>
          <a:ln w="25400">
            <a:solidFill>
              <a:srgbClr val="2F5D8C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13" name="Text 9"/>
          <p:cNvSpPr/>
          <p:nvPr/>
        </p:nvSpPr>
        <p:spPr>
          <a:xfrm>
            <a:off x="7992506" y="5566414"/>
            <a:ext cx="3878927" cy="5041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Median latency </a:t>
            </a:r>
            <a:r>
              <a:rPr lang="en-US" sz="13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19 s</a:t>
            </a:r>
            <a:r>
              <a:rPr lang="en-US" sz="13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; 69% of alarms within 30 s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B447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FAILURES AND LIMITATIONS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78564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i="0" dirty="0">
                <a:solidFill>
                  <a:srgbClr val="14213D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Missed seizures are concentrated in a few patients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5975" y="1873889"/>
            <a:ext cx="5581650" cy="4168140"/>
          </a:xfrm>
          <a:prstGeom prst="roundRect">
            <a:avLst>
              <a:gd name="adj" fmla="val 2361"/>
            </a:avLst>
          </a:prstGeom>
          <a:solidFill>
            <a:srgbClr val="FFFFFF"/>
          </a:solidFill>
          <a:ln w="6350">
            <a:solidFill>
              <a:srgbClr val="E4E1D8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pic>
        <p:nvPicPr>
          <p:cNvPr id="5" name="Image 0" descr="Missed seizures per patien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19480" y="2289969"/>
            <a:ext cx="5374640" cy="333597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705600" y="1870714"/>
            <a:ext cx="4813808" cy="5226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8"/>
              </a:lnSpc>
              <a:buNone/>
            </a:pPr>
            <a:r>
              <a:rPr lang="en-US" sz="135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 patients</a:t>
            </a:r>
            <a:r>
              <a:rPr lang="en-US" sz="135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hold 61% of all missed seizures; median per-patient sensitivity is </a:t>
            </a:r>
            <a:r>
              <a:rPr lang="en-US" sz="1350" b="1" dirty="0">
                <a:solidFill>
                  <a:srgbClr val="2F5D8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80%</a:t>
            </a:r>
            <a:r>
              <a:rPr lang="en-US" sz="135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705600" y="2558417"/>
            <a:ext cx="481380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B447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LIMITATIONS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740144" y="2911475"/>
            <a:ext cx="4773168" cy="14617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8656" indent="-168656" algn="l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Hospital (EMU) patients with refractory epilepsy, not home users</a:t>
            </a:r>
            <a:endParaRPr lang="en-US" sz="1300" dirty="0"/>
          </a:p>
          <a:p>
            <a:pPr marL="168656" indent="-168656" algn="l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external dataset for validation</a:t>
            </a:r>
            <a:endParaRPr lang="en-US" sz="1300" dirty="0"/>
          </a:p>
          <a:p>
            <a:pPr marL="168656" indent="-168656" algn="l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Two design choices (2 µV rule, context features) made after seeing earlier results</a:t>
            </a:r>
            <a:endParaRPr lang="en-US" sz="1300" dirty="0"/>
          </a:p>
          <a:p>
            <a:pPr marL="168656" indent="-168656" algn="l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Only two EEG channels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B447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I LEARNED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78564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i="0" dirty="0">
                <a:solidFill>
                  <a:srgbClr val="14213D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Three mistakes I made and fixed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5975" y="1873889"/>
            <a:ext cx="3380264" cy="3335020"/>
          </a:xfrm>
          <a:prstGeom prst="roundRect">
            <a:avLst>
              <a:gd name="adj" fmla="val 2951"/>
            </a:avLst>
          </a:prstGeom>
          <a:solidFill>
            <a:srgbClr val="FFFFFF"/>
          </a:solidFill>
          <a:ln w="6350">
            <a:solidFill>
              <a:srgbClr val="E4E1D8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5" name="Text 3"/>
          <p:cNvSpPr/>
          <p:nvPr/>
        </p:nvSpPr>
        <p:spPr>
          <a:xfrm>
            <a:off x="1046480" y="2104392"/>
            <a:ext cx="3006831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3200" b="1" dirty="0">
                <a:solidFill>
                  <a:srgbClr val="B4472F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046480" y="2663192"/>
            <a:ext cx="3006831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Copied a rule from scalp EEG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46480" y="3079750"/>
            <a:ext cx="3006831" cy="5041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13 µV limit threw away half of the seizure windows.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046480" y="3714117"/>
            <a:ext cx="2919254" cy="0"/>
          </a:xfrm>
          <a:prstGeom prst="line">
            <a:avLst/>
          </a:prstGeom>
          <a:noFill/>
          <a:ln w="6350">
            <a:solidFill>
              <a:srgbClr val="E4E1D8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9" name="Text 7"/>
          <p:cNvSpPr/>
          <p:nvPr/>
        </p:nvSpPr>
        <p:spPr>
          <a:xfrm>
            <a:off x="1046480" y="3843022"/>
            <a:ext cx="3006831" cy="264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b="1" dirty="0">
                <a:solidFill>
                  <a:srgbClr val="2F5D8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Fix:</a:t>
            </a:r>
            <a:r>
              <a:rPr lang="en-US" sz="1300" dirty="0">
                <a:solidFill>
                  <a:srgbClr val="2F5D8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checked real amplitudes → 2 µV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05789" y="1873889"/>
            <a:ext cx="3380343" cy="3335020"/>
          </a:xfrm>
          <a:prstGeom prst="roundRect">
            <a:avLst>
              <a:gd name="adj" fmla="val 2951"/>
            </a:avLst>
          </a:prstGeom>
          <a:solidFill>
            <a:srgbClr val="FFFFFF"/>
          </a:solidFill>
          <a:ln w="6350">
            <a:solidFill>
              <a:srgbClr val="E4E1D8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11" name="Text 9"/>
          <p:cNvSpPr/>
          <p:nvPr/>
        </p:nvSpPr>
        <p:spPr>
          <a:xfrm>
            <a:off x="4636294" y="2104392"/>
            <a:ext cx="3006913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3200" b="1" dirty="0">
                <a:solidFill>
                  <a:srgbClr val="B4472F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2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636294" y="2663192"/>
            <a:ext cx="3006913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Used labels on the test set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36294" y="3079750"/>
            <a:ext cx="3006913" cy="5041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That is data leakage: the test set must look like real life.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36294" y="3714117"/>
            <a:ext cx="2919333" cy="0"/>
          </a:xfrm>
          <a:prstGeom prst="line">
            <a:avLst/>
          </a:prstGeom>
          <a:noFill/>
          <a:ln w="6350">
            <a:solidFill>
              <a:srgbClr val="E4E1D8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15" name="Text 13"/>
          <p:cNvSpPr/>
          <p:nvPr/>
        </p:nvSpPr>
        <p:spPr>
          <a:xfrm>
            <a:off x="4636294" y="3843022"/>
            <a:ext cx="3006913" cy="264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b="1" dirty="0">
                <a:solidFill>
                  <a:srgbClr val="2F5D8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Fix:</a:t>
            </a:r>
            <a:r>
              <a:rPr lang="en-US" sz="1300" dirty="0">
                <a:solidFill>
                  <a:srgbClr val="2F5D8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one rule for all windows, no labels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995682" y="1873889"/>
            <a:ext cx="3380343" cy="3335020"/>
          </a:xfrm>
          <a:prstGeom prst="roundRect">
            <a:avLst>
              <a:gd name="adj" fmla="val 2951"/>
            </a:avLst>
          </a:prstGeom>
          <a:solidFill>
            <a:srgbClr val="FFFFFF"/>
          </a:solidFill>
          <a:ln w="6350">
            <a:solidFill>
              <a:srgbClr val="E4E1D8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17" name="Text 15"/>
          <p:cNvSpPr/>
          <p:nvPr/>
        </p:nvSpPr>
        <p:spPr>
          <a:xfrm>
            <a:off x="8226187" y="2104392"/>
            <a:ext cx="3006913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3200" b="1" dirty="0">
                <a:solidFill>
                  <a:srgbClr val="B4472F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3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8226187" y="2663192"/>
            <a:ext cx="3006913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Thought the model overfitted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226187" y="3079750"/>
            <a:ext cx="3006913" cy="5041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gap of 0.195 compared two different sets of windows.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226187" y="3714117"/>
            <a:ext cx="2919333" cy="0"/>
          </a:xfrm>
          <a:prstGeom prst="line">
            <a:avLst/>
          </a:prstGeom>
          <a:noFill/>
          <a:ln w="6350">
            <a:solidFill>
              <a:srgbClr val="E4E1D8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21" name="Text 19"/>
          <p:cNvSpPr/>
          <p:nvPr/>
        </p:nvSpPr>
        <p:spPr>
          <a:xfrm>
            <a:off x="8226187" y="3843022"/>
            <a:ext cx="3006913" cy="264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b="1" dirty="0">
                <a:solidFill>
                  <a:srgbClr val="2F5D8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Fix:</a:t>
            </a:r>
            <a:r>
              <a:rPr lang="en-US" sz="1300" dirty="0">
                <a:solidFill>
                  <a:srgbClr val="2F5D8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comparable windows → gap 0.075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12800" y="5466079"/>
            <a:ext cx="10566400" cy="579120"/>
          </a:xfrm>
          <a:prstGeom prst="roundRect">
            <a:avLst>
              <a:gd name="adj" fmla="val 17544"/>
            </a:avLst>
          </a:prstGeom>
          <a:solidFill>
            <a:srgbClr val="14213D"/>
          </a:solidFill>
          <a:ln/>
        </p:spPr>
        <p:txBody>
          <a:bodyPr/>
          <a:lstStyle/>
          <a:p>
            <a:endParaRPr lang="el-GR"/>
          </a:p>
        </p:txBody>
      </p:sp>
      <p:sp>
        <p:nvSpPr>
          <p:cNvPr id="23" name="Text 21"/>
          <p:cNvSpPr/>
          <p:nvPr/>
        </p:nvSpPr>
        <p:spPr>
          <a:xfrm>
            <a:off x="1041400" y="5648964"/>
            <a:ext cx="179125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E9A6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BIGGEST SURPRISE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832656" y="5631179"/>
            <a:ext cx="61781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F7F6F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model that never raises an alarm already gets 99.9% accuracy.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98" r="-98"/>
          <a:stretch/>
        </p:blipFill>
        <p:spPr>
          <a:xfrm>
            <a:off x="0" y="5651500"/>
            <a:ext cx="12192000" cy="1016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1175066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E9A6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4" name="Text 1"/>
          <p:cNvSpPr>
            <a:spLocks noGrp="1"/>
          </p:cNvSpPr>
          <p:nvPr>
            <p:ph type="title"/>
          </p:nvPr>
        </p:nvSpPr>
        <p:spPr>
          <a:xfrm>
            <a:off x="812800" y="1667830"/>
            <a:ext cx="10883392" cy="13836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65"/>
              </a:lnSpc>
              <a:buNone/>
            </a:pPr>
            <a:r>
              <a:rPr lang="en-US" sz="3100" b="1" i="0" dirty="0">
                <a:solidFill>
                  <a:srgbClr val="F7F6F2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Two behind-the-ear channels detect 56% of seizures at under one false alarm per hour, on patients never seen in training</a:t>
            </a:r>
            <a:endParaRPr lang="en-US" sz="3100" dirty="0"/>
          </a:p>
        </p:txBody>
      </p:sp>
      <p:sp>
        <p:nvSpPr>
          <p:cNvPr id="5" name="Shape 2"/>
          <p:cNvSpPr/>
          <p:nvPr/>
        </p:nvSpPr>
        <p:spPr>
          <a:xfrm>
            <a:off x="812800" y="3311841"/>
            <a:ext cx="10566400" cy="0"/>
          </a:xfrm>
          <a:prstGeom prst="line">
            <a:avLst/>
          </a:prstGeom>
          <a:noFill/>
          <a:ln w="12700">
            <a:solidFill>
              <a:srgbClr val="3B4C6E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6" name="Text 3"/>
          <p:cNvSpPr/>
          <p:nvPr/>
        </p:nvSpPr>
        <p:spPr>
          <a:xfrm>
            <a:off x="812800" y="3518855"/>
            <a:ext cx="34533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E9A6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TAKE-HOME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12800" y="3795713"/>
            <a:ext cx="3453384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C9D3E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Long and tonic-clonic seizures are detected reliably; </a:t>
            </a:r>
            <a:r>
              <a:rPr lang="en-US" sz="1400" b="1" dirty="0">
                <a:solidFill>
                  <a:srgbClr val="F7F6F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short focal seizures</a:t>
            </a:r>
            <a:r>
              <a:rPr lang="en-US" sz="1400" dirty="0">
                <a:solidFill>
                  <a:srgbClr val="C9D3E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are the open problem.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419600" y="3518855"/>
            <a:ext cx="34533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E9A6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NEXT TIME I WOULD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419600" y="3795713"/>
            <a:ext cx="3453384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C9D3E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Explore the signal before borrowing rules, and keep a set of patients </a:t>
            </a:r>
            <a:r>
              <a:rPr lang="en-US" sz="1400" b="1" dirty="0">
                <a:solidFill>
                  <a:srgbClr val="F7F6F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untouched</a:t>
            </a:r>
            <a:r>
              <a:rPr lang="en-US" sz="1400" dirty="0">
                <a:solidFill>
                  <a:srgbClr val="C9D3E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until the very end.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026400" y="3518855"/>
            <a:ext cx="34533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E9A6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RECOMMENDATION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026400" y="3795713"/>
            <a:ext cx="3453384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C9D3E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Add the </a:t>
            </a:r>
            <a:r>
              <a:rPr lang="en-US" sz="1400" b="1" dirty="0">
                <a:solidFill>
                  <a:srgbClr val="F7F6F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ECG and movement</a:t>
            </a:r>
            <a:r>
              <a:rPr lang="en-US" sz="1400" dirty="0">
                <a:solidFill>
                  <a:srgbClr val="C9D3E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signals already in SeizeIT2, and always report sensitivity with FA/h.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12800" y="4821876"/>
            <a:ext cx="10883392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dirty="0">
                <a:solidFill>
                  <a:srgbClr val="E9A6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Thank you. Questions?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BACKUP · OVERFITTING CHECK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78564"/>
            <a:ext cx="10883392" cy="901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i="0" dirty="0">
                <a:solidFill>
                  <a:srgbClr val="14213D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Train AUROC 0.969 vs. test 0.894: a moderate, expected gap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5975" y="2312039"/>
            <a:ext cx="10560050" cy="3236595"/>
          </a:xfrm>
          <a:prstGeom prst="roundRect">
            <a:avLst>
              <a:gd name="adj" fmla="val 3041"/>
            </a:avLst>
          </a:prstGeom>
          <a:solidFill>
            <a:srgbClr val="FFFFFF"/>
          </a:solidFill>
          <a:ln w="6350">
            <a:solidFill>
              <a:srgbClr val="E4E1D8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pic>
        <p:nvPicPr>
          <p:cNvPr id="5" name="Image 0" descr="Window-level confusion matrix and train versus test AUROC per fold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44675" y="2374584"/>
            <a:ext cx="8502650" cy="31115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12800" y="5805804"/>
            <a:ext cx="10883392" cy="264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Validation patients 58.6% / 0.94 FA/h vs. test patients 55.9% / 0.93 FA/h: the threshold transfers to new patients.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36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75"/>
              </a:lnSpc>
              <a:buNone/>
            </a:pPr>
            <a:r>
              <a:rPr lang="en-US" sz="1196" b="1" kern="0" spc="15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BACKUP · MODELS TRIED</a:t>
            </a:r>
            <a:endParaRPr lang="en-US" sz="1196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76021"/>
            <a:ext cx="10883392" cy="458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18"/>
              </a:lnSpc>
              <a:buNone/>
            </a:pPr>
            <a:r>
              <a:rPr lang="en-US" sz="2972" b="1" i="0" dirty="0">
                <a:solidFill>
                  <a:srgbClr val="14213D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All versions, same patient-wise evaluation</a:t>
            </a:r>
            <a:endParaRPr lang="en-US" sz="2972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873172"/>
          <a:ext cx="10556241" cy="3699668"/>
        </p:xfrm>
        <a:graphic>
          <a:graphicData uri="http://schemas.openxmlformats.org/drawingml/2006/table">
            <a:tbl>
              <a:tblPr/>
              <a:tblGrid>
                <a:gridCol w="35187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187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187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1959">
                <a:tc>
                  <a:txBody>
                    <a:bodyPr/>
                    <a:lstStyle/>
                    <a:p>
                      <a:pPr marL="0" indent="0">
                        <a:lnSpc>
                          <a:spcPts val="1917"/>
                        </a:lnSpc>
                        <a:buNone/>
                      </a:pPr>
                      <a:r>
                        <a:rPr lang="en-US" sz="1369" b="1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Model</a:t>
                      </a:r>
                      <a:endParaRPr lang="en-US" sz="1369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6200" marR="76200" marT="88900" marB="88900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6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6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4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17"/>
                        </a:lnSpc>
                        <a:buNone/>
                      </a:pPr>
                      <a:r>
                        <a:rPr lang="en-US" sz="1369" b="1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Event sensitivity</a:t>
                      </a:r>
                      <a:endParaRPr lang="en-US" sz="1369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6200" marR="76200" marT="88900" marB="88900">
                    <a:lnL w="12700" cap="flat" cmpd="sng" algn="ctr">
                      <a:solidFill>
                        <a:srgbClr val="B7B6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6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6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4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17"/>
                        </a:lnSpc>
                        <a:buNone/>
                      </a:pPr>
                      <a:r>
                        <a:rPr lang="en-US" sz="1369" b="1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FA/h</a:t>
                      </a:r>
                      <a:endParaRPr lang="en-US" sz="1369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6200" marR="76200" marT="88900" marB="88900">
                    <a:lnL w="12700" cap="flat" cmpd="sng" algn="ctr">
                      <a:solidFill>
                        <a:srgbClr val="B7B6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6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6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4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5481">
                <a:tc>
                  <a:txBody>
                    <a:bodyPr/>
                    <a:lstStyle/>
                    <a:p>
                      <a:pPr marL="0" indent="0">
                        <a:lnSpc>
                          <a:spcPts val="1917"/>
                        </a:lnSpc>
                        <a:buNone/>
                      </a:pPr>
                      <a:r>
                        <a:rPr lang="en-US" sz="1369" dirty="0">
                          <a:solidFill>
                            <a:srgbClr val="3D475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SVM + grid search (earlier pipeline)</a:t>
                      </a:r>
                      <a:endParaRPr lang="en-US" sz="1369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6200" marR="76200" marT="88900" marB="88900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6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17"/>
                        </a:lnSpc>
                        <a:buNone/>
                      </a:pPr>
                      <a:r>
                        <a:rPr lang="en-US" sz="1369" dirty="0">
                          <a:solidFill>
                            <a:srgbClr val="6B728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not comparable; no superiority of XGBoost claimed</a:t>
                      </a:r>
                      <a:endParaRPr lang="en-US" sz="1369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6200" marR="76200" marT="88900" marB="88900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6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17"/>
                        </a:lnSpc>
                        <a:buNone/>
                      </a:pPr>
                      <a:endParaRPr lang="en-US" sz="1369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6200" marR="76200" marT="88900" marB="88900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6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038">
                <a:tc>
                  <a:txBody>
                    <a:bodyPr/>
                    <a:lstStyle/>
                    <a:p>
                      <a:pPr marL="0" indent="0">
                        <a:lnSpc>
                          <a:spcPts val="1917"/>
                        </a:lnSpc>
                        <a:buNone/>
                      </a:pPr>
                      <a:r>
                        <a:rPr lang="en-US" sz="1369" dirty="0">
                          <a:solidFill>
                            <a:srgbClr val="3D475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XGBoost, 13 µV rule</a:t>
                      </a:r>
                      <a:endParaRPr lang="en-US" sz="1369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6200" marR="76200" marT="88900" marB="88900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17"/>
                        </a:lnSpc>
                        <a:buNone/>
                      </a:pPr>
                      <a:r>
                        <a:rPr lang="en-US" sz="1369" dirty="0">
                          <a:solidFill>
                            <a:srgbClr val="3D475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42.0%</a:t>
                      </a:r>
                      <a:endParaRPr lang="en-US" sz="1369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6200" marR="76200" marT="88900" marB="88900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17"/>
                        </a:lnSpc>
                        <a:buNone/>
                      </a:pPr>
                      <a:r>
                        <a:rPr lang="en-US" sz="1369" dirty="0">
                          <a:solidFill>
                            <a:srgbClr val="3D475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0.93</a:t>
                      </a:r>
                      <a:endParaRPr lang="en-US" sz="1369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6200" marR="76200" marT="88900" marB="88900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038">
                <a:tc>
                  <a:txBody>
                    <a:bodyPr/>
                    <a:lstStyle/>
                    <a:p>
                      <a:pPr marL="0" indent="0">
                        <a:lnSpc>
                          <a:spcPts val="1917"/>
                        </a:lnSpc>
                        <a:buNone/>
                      </a:pPr>
                      <a:r>
                        <a:rPr lang="en-US" sz="1369" dirty="0">
                          <a:solidFill>
                            <a:srgbClr val="3D475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XGBoost, 2 µV + 8/10 (42 features)</a:t>
                      </a:r>
                      <a:endParaRPr lang="en-US" sz="1369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6200" marR="76200" marT="88900" marB="88900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17"/>
                        </a:lnSpc>
                        <a:buNone/>
                      </a:pPr>
                      <a:r>
                        <a:rPr lang="en-US" sz="1369" dirty="0">
                          <a:solidFill>
                            <a:srgbClr val="3D475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52.3%</a:t>
                      </a:r>
                      <a:endParaRPr lang="en-US" sz="1369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6200" marR="76200" marT="88900" marB="88900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17"/>
                        </a:lnSpc>
                        <a:buNone/>
                      </a:pPr>
                      <a:r>
                        <a:rPr lang="en-US" sz="1369" dirty="0">
                          <a:solidFill>
                            <a:srgbClr val="3D475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0.90</a:t>
                      </a:r>
                      <a:endParaRPr lang="en-US" sz="1369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6200" marR="76200" marT="88900" marB="88900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2038">
                <a:tc>
                  <a:txBody>
                    <a:bodyPr/>
                    <a:lstStyle/>
                    <a:p>
                      <a:pPr marL="0" indent="0">
                        <a:lnSpc>
                          <a:spcPts val="1917"/>
                        </a:lnSpc>
                        <a:buNone/>
                      </a:pPr>
                      <a:r>
                        <a:rPr lang="en-US" sz="1369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Final: + context (84 features)</a:t>
                      </a:r>
                      <a:endParaRPr lang="en-US" sz="1369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6200" marR="76200" marT="88900" marB="88900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B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17"/>
                        </a:lnSpc>
                        <a:buNone/>
                      </a:pPr>
                      <a:r>
                        <a:rPr lang="en-US" sz="1369" dirty="0">
                          <a:solidFill>
                            <a:srgbClr val="2F5D8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55.9%</a:t>
                      </a:r>
                      <a:endParaRPr lang="en-US" sz="1369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6200" marR="76200" marT="88900" marB="88900">
                    <a:lnL w="12700" cap="flat" cmpd="sng" algn="ctr">
                      <a:solidFill>
                        <a:srgbClr val="B5B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B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17"/>
                        </a:lnSpc>
                        <a:buNone/>
                      </a:pPr>
                      <a:r>
                        <a:rPr lang="en-US" sz="1369" dirty="0">
                          <a:solidFill>
                            <a:srgbClr val="2F5D8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0.93</a:t>
                      </a:r>
                      <a:endParaRPr lang="en-US" sz="1369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6200" marR="76200" marT="88900" marB="88900">
                    <a:lnL w="12700" cap="flat" cmpd="sng" algn="ctr">
                      <a:solidFill>
                        <a:srgbClr val="B5B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B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2038">
                <a:tc>
                  <a:txBody>
                    <a:bodyPr/>
                    <a:lstStyle/>
                    <a:p>
                      <a:pPr marL="0" indent="0">
                        <a:lnSpc>
                          <a:spcPts val="1917"/>
                        </a:lnSpc>
                        <a:buNone/>
                      </a:pPr>
                      <a:r>
                        <a:rPr lang="en-US" sz="1369" dirty="0">
                          <a:solidFill>
                            <a:srgbClr val="3D475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Final, threshold 0.5</a:t>
                      </a:r>
                      <a:endParaRPr lang="en-US" sz="1369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6200" marR="76200" marT="88900" marB="88900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17"/>
                        </a:lnSpc>
                        <a:buNone/>
                      </a:pPr>
                      <a:r>
                        <a:rPr lang="en-US" sz="1369" dirty="0">
                          <a:solidFill>
                            <a:srgbClr val="3D475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57.6%</a:t>
                      </a:r>
                      <a:endParaRPr lang="en-US" sz="1369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6200" marR="76200" marT="88900" marB="88900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17"/>
                        </a:lnSpc>
                        <a:buNone/>
                      </a:pPr>
                      <a:r>
                        <a:rPr lang="en-US" sz="1369" dirty="0">
                          <a:solidFill>
                            <a:srgbClr val="3D475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0.99</a:t>
                      </a:r>
                      <a:endParaRPr lang="en-US" sz="1369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6200" marR="76200" marT="88900" marB="88900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2038">
                <a:tc>
                  <a:txBody>
                    <a:bodyPr/>
                    <a:lstStyle/>
                    <a:p>
                      <a:pPr marL="0" indent="0">
                        <a:lnSpc>
                          <a:spcPts val="1917"/>
                        </a:lnSpc>
                        <a:buNone/>
                      </a:pPr>
                      <a:r>
                        <a:rPr lang="en-US" sz="1369" dirty="0">
                          <a:solidFill>
                            <a:srgbClr val="3D475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Final, ≤ 2 FA/h</a:t>
                      </a:r>
                      <a:endParaRPr lang="en-US" sz="1369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6200" marR="76200" marT="88900" marB="88900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17"/>
                        </a:lnSpc>
                        <a:buNone/>
                      </a:pPr>
                      <a:r>
                        <a:rPr lang="en-US" sz="1369" dirty="0">
                          <a:solidFill>
                            <a:srgbClr val="3D475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69.4%</a:t>
                      </a:r>
                      <a:endParaRPr lang="en-US" sz="1369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6200" marR="76200" marT="88900" marB="88900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17"/>
                        </a:lnSpc>
                        <a:buNone/>
                      </a:pPr>
                      <a:r>
                        <a:rPr lang="en-US" sz="1369" dirty="0">
                          <a:solidFill>
                            <a:srgbClr val="3D475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1.94</a:t>
                      </a:r>
                      <a:endParaRPr lang="en-US" sz="1369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6200" marR="76200" marT="88900" marB="88900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2038">
                <a:tc>
                  <a:txBody>
                    <a:bodyPr/>
                    <a:lstStyle/>
                    <a:p>
                      <a:pPr marL="0" indent="0">
                        <a:lnSpc>
                          <a:spcPts val="1917"/>
                        </a:lnSpc>
                        <a:buNone/>
                      </a:pPr>
                      <a:r>
                        <a:rPr lang="en-US" sz="1369" dirty="0">
                          <a:solidFill>
                            <a:srgbClr val="3D475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Final, ≤ 3 FA/h</a:t>
                      </a:r>
                      <a:endParaRPr lang="en-US" sz="1369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6200" marR="76200" marT="88900" marB="88900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17"/>
                        </a:lnSpc>
                        <a:buNone/>
                      </a:pPr>
                      <a:r>
                        <a:rPr lang="en-US" sz="1369" dirty="0">
                          <a:solidFill>
                            <a:srgbClr val="3D475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77.6%</a:t>
                      </a:r>
                      <a:endParaRPr lang="en-US" sz="1369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6200" marR="76200" marT="88900" marB="88900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17"/>
                        </a:lnSpc>
                        <a:buNone/>
                      </a:pPr>
                      <a:r>
                        <a:rPr lang="en-US" sz="1369" dirty="0">
                          <a:solidFill>
                            <a:srgbClr val="3D475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2.91</a:t>
                      </a:r>
                      <a:endParaRPr lang="en-US" sz="1369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6200" marR="76200" marT="88900" marB="88900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5826838"/>
            <a:ext cx="11379200" cy="243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24"/>
              </a:lnSpc>
              <a:buNone/>
            </a:pPr>
            <a:r>
              <a:rPr lang="en-US" sz="1189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Context gain: McNemar p = 0.005 (seizures), Wilcoxon p = 0.043 (patients), but the patient bootstrap CI of the difference includes 0 → small improvement.</a:t>
            </a:r>
            <a:endParaRPr lang="en-US" sz="1189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izure Detection SeizeIT2">
  <a:themeElements>
    <a:clrScheme name="Seizure Detection SeizeIT2">
      <a:dk1>
        <a:srgbClr val="14213D"/>
      </a:dk1>
      <a:lt1>
        <a:srgbClr val="F7F6F2"/>
      </a:lt1>
      <a:dk2>
        <a:srgbClr val="4D566A"/>
      </a:dk2>
      <a:lt2>
        <a:srgbClr val="E0E1E0"/>
      </a:lt2>
      <a:accent1>
        <a:srgbClr val="B4472F"/>
      </a:accent1>
      <a:accent2>
        <a:srgbClr val="2F5D8C"/>
      </a:accent2>
      <a:accent3>
        <a:srgbClr val="E9A68F"/>
      </a:accent3>
      <a:accent4>
        <a:srgbClr val="3D4756"/>
      </a:accent4>
      <a:accent5>
        <a:srgbClr val="6B7280"/>
      </a:accent5>
      <a:accent6>
        <a:srgbClr val="C9D3E3"/>
      </a:accent6>
      <a:hlink>
        <a:srgbClr val="0563C1"/>
      </a:hlink>
      <a:folHlink>
        <a:srgbClr val="954F72"/>
      </a:folHlink>
    </a:clrScheme>
    <a:fontScheme name="Seizure Detection SeizeIT2">
      <a:majorFont>
        <a:latin typeface="Source Serif 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Θέμα του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1468</TotalTime>
  <Words>1355</Words>
  <Application>Microsoft Office PowerPoint</Application>
  <PresentationFormat>Ευρεία οθόνη</PresentationFormat>
  <Paragraphs>167</Paragraphs>
  <Slides>14</Slides>
  <Notes>14</Notes>
  <HiddenSlides>0</HiddenSlides>
  <MMClips>0</MMClips>
  <ScaleCrop>false</ScaleCrop>
  <HeadingPairs>
    <vt:vector size="6" baseType="variant">
      <vt:variant>
        <vt:lpstr>Γραμματοσειρές που χρησιμοποιούνται</vt:lpstr>
      </vt:variant>
      <vt:variant>
        <vt:i4>3</vt:i4>
      </vt:variant>
      <vt:variant>
        <vt:lpstr>Θέμα</vt:lpstr>
      </vt:variant>
      <vt:variant>
        <vt:i4>1</vt:i4>
      </vt:variant>
      <vt:variant>
        <vt:lpstr>Τίτλοι διαφανειών</vt:lpstr>
      </vt:variant>
      <vt:variant>
        <vt:i4>14</vt:i4>
      </vt:variant>
    </vt:vector>
  </HeadingPairs>
  <TitlesOfParts>
    <vt:vector size="18" baseType="lpstr">
      <vt:lpstr>Arial</vt:lpstr>
      <vt:lpstr>IBM Plex Sans</vt:lpstr>
      <vt:lpstr>Source Serif 4</vt:lpstr>
      <vt:lpstr>Seizure Detection SeizeIT2</vt:lpstr>
      <vt:lpstr>Automated seizure detection from behind-the-ear EEG</vt:lpstr>
      <vt:lpstr>Detect seizures at home without waking everyone up for nothing</vt:lpstr>
      <vt:lpstr>SeizeIT2: a large, public, very imbalanced dataset</vt:lpstr>
      <vt:lpstr>From raw signal to alarm</vt:lpstr>
      <vt:lpstr>Nested patient-wise cross-validation, no leakage</vt:lpstr>
      <vt:lpstr>494 of 883 seizures detected at 0.93 false alarms per hour</vt:lpstr>
      <vt:lpstr>The biggest  gain came from fixing the artifact rule</vt:lpstr>
      <vt:lpstr>Focal-to-bilateral tonic-clonic seizures are almost always detected</vt:lpstr>
      <vt:lpstr>Longer seizures are detected much more often</vt:lpstr>
      <vt:lpstr>Missed seizures are concentrated in a few patients</vt:lpstr>
      <vt:lpstr>Three mistakes I made and fixed</vt:lpstr>
      <vt:lpstr>Two behind-the-ear channels detect 56% of seizures at under one false alarm per hour, on patients never seen in training</vt:lpstr>
      <vt:lpstr>Train AUROC 0.969 vs. test 0.894: a moderate, expected gap</vt:lpstr>
      <vt:lpstr>All versions, same patient-wise evaluation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Seizure Detection SeizeIT2</dc:title>
  <dc:subject/>
  <dc:creator/>
  <cp:lastModifiedBy>Giannis Vakkas</cp:lastModifiedBy>
  <cp:revision>4</cp:revision>
  <dcterms:created xsi:type="dcterms:W3CDTF">2026-10-12T16:14:13Z</dcterms:created>
  <dcterms:modified xsi:type="dcterms:W3CDTF">2026-10-14T07:47:37Z</dcterms:modified>
</cp:coreProperties>
</file>